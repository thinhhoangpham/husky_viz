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B8A8F"/>
                </a:solidFill>
                <a:latin typeface="Consolas"/>
              </a:rPr>
              <a:t>LAKE MAP  ·  DUPLICATE CONSTELLATION  ·  TILT DISAMBIGUATION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A1C"/>
                </a:solidFill>
                <a:latin typeface="Calibri"/>
              </a:rPr>
              <a:t>Two constellations the matcher cannot tell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4A585C"/>
                </a:solidFill>
                <a:latin typeface="Calibri"/>
              </a:rPr>
              <a:t>Identical to within the matcher's 0.5 m inlier tolerance — but standing on different ground.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270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88366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7B8A8F"/>
                </a:solidFill>
                <a:latin typeface="Consolas"/>
              </a:rPr>
              <a:t>CONSTELLATION GEOMETRY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212848"/>
          <a:ext cx="53949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18872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Pairwise side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Group A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Group B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Δ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A1C"/>
                          </a:solidFill>
                          <a:latin typeface="Calibri"/>
                        </a:rPr>
                        <a:t>short  A1–A3 / B2–B3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10.587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11.084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0.496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A1C"/>
                          </a:solidFill>
                          <a:latin typeface="Calibri"/>
                        </a:rPr>
                        <a:t>medium A2–A3 / B1–B3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14.600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14.863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0.262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A1C"/>
                          </a:solidFill>
                          <a:latin typeface="Calibri"/>
                        </a:rPr>
                        <a:t>long   A1–A2 / B1–B2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23.824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24.303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0.479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A1C"/>
                          </a:solidFill>
                          <a:latin typeface="Calibri"/>
                        </a:rPr>
                        <a:t>centroid separation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41A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41A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41A1C"/>
                          </a:solidFill>
                          <a:latin typeface="Consolas"/>
                        </a:rPr>
                        <a:t>59.36 m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A585C"/>
                          </a:solidFill>
                          <a:latin typeface="Calibri"/>
                        </a:rPr>
                        <a:t>matcher inliers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3 / 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3 / 3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tied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62686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7B8A8F"/>
                </a:solidFill>
                <a:latin typeface="Calibri"/>
              </a:rPr>
              <a:t>Max vertex mismatch 0.496 m — inside the 0.500 m inlier tolerance. Shape alone cannot choose.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8366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7B8A8F"/>
                </a:solidFill>
                <a:latin typeface="Consolas"/>
              </a:rPr>
              <a:t>MEASURED vs DTM-PREDICTED ATTITUDE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2212848"/>
          <a:ext cx="5266944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32688"/>
                <a:gridCol w="932688"/>
                <a:gridCol w="932688"/>
                <a:gridCol w="868680"/>
              </a:tblGrid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Robot at / hypothesis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Roll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Pitch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Resid.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7B8A8F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</a:tr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A1C"/>
                          </a:solidFill>
                          <a:latin typeface="Calibri"/>
                        </a:rPr>
                        <a:t>SITE A  measured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+0.15°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+2.47°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41A1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</a:tr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85C"/>
                          </a:solidFill>
                          <a:latin typeface="Calibri"/>
                        </a:rPr>
                        <a:t>   hypothesis 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+0.18°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+2.19°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7E9C"/>
                          </a:solidFill>
                          <a:latin typeface="Consolas"/>
                        </a:rPr>
                        <a:t>0.28°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7E9C"/>
                          </a:solidFill>
                          <a:latin typeface="Consolas"/>
                        </a:rPr>
                        <a:t>consistent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85C"/>
                          </a:solidFill>
                          <a:latin typeface="Calibri"/>
                        </a:rPr>
                        <a:t>   hypothesis B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−7.17°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−2.62°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C0472B"/>
                          </a:solidFill>
                          <a:latin typeface="Consolas"/>
                        </a:rPr>
                        <a:t>8.91°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C0472B"/>
                          </a:solidFill>
                          <a:latin typeface="Consolas"/>
                        </a:rPr>
                        <a:t>eliminated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1A1C"/>
                          </a:solidFill>
                          <a:latin typeface="Calibri"/>
                        </a:rPr>
                        <a:t>SITE B  measured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−8.22°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A585C"/>
                          </a:solidFill>
                          <a:latin typeface="Consolas"/>
                        </a:rPr>
                        <a:t>−2.87°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41A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41A1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64008" marR="64008" marT="41148" marB="41148" anchor="ctr">
                    <a:solidFill>
                      <a:srgbClr val="EFEBE4"/>
                    </a:solidFill>
                  </a:tcPr>
                </a:tc>
              </a:tr>
              <a:tr h="34224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85C"/>
                          </a:solidFill>
                          <a:latin typeface="Calibri"/>
                        </a:rPr>
                        <a:t>   hypothesis A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+0.18°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+2.19°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C0472B"/>
                          </a:solidFill>
                          <a:latin typeface="Consolas"/>
                        </a:rPr>
                        <a:t>9.81°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C0472B"/>
                          </a:solidFill>
                          <a:latin typeface="Consolas"/>
                        </a:rPr>
                        <a:t>eliminated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  <a:tr h="3422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85C"/>
                          </a:solidFill>
                          <a:latin typeface="Calibri"/>
                        </a:rPr>
                        <a:t>   hypothesis B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−7.17°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4A585C"/>
                          </a:solidFill>
                          <a:latin typeface="Consolas"/>
                        </a:rPr>
                        <a:t>−2.62°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7E9C"/>
                          </a:solidFill>
                          <a:latin typeface="Consolas"/>
                        </a:rPr>
                        <a:t>1.09°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7E9C"/>
                          </a:solidFill>
                          <a:latin typeface="Consolas"/>
                        </a:rPr>
                        <a:t>consistent</a:t>
                      </a:r>
                    </a:p>
                  </a:txBody>
                  <a:tcPr marL="64008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4736592"/>
            <a:ext cx="5266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7B8A8F"/>
                </a:solidFill>
                <a:latin typeface="Calibri"/>
              </a:rPr>
              <a:t>Predictor's own error over 11 known-good poses: mean 0.253°, max 0.435°.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230368"/>
            <a:ext cx="1105509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394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B8A8F"/>
                </a:solidFill>
                <a:latin typeface="Consola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61441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1A1C"/>
                </a:solidFill>
                <a:latin typeface="Calibri"/>
              </a:rPr>
              <a:t>The wrong hypothesis misses by 8.9–9.8°, the correct one by 0.3–1.1° — a 9–12× gap, in both directions.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7278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B8A8F"/>
                </a:solidFill>
                <a:latin typeface="Calibri"/>
              </a:rPr>
              <a:t>Lake Gazebo world, single local machine. Attitude from /compass/data; terrain from lake_dtm.npy; landmarks from lake_objects.yaml. No simulator ground truth used for pose. Constellation matcher unmodified — it still separates these by a 15 m prior check, not by tilt.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